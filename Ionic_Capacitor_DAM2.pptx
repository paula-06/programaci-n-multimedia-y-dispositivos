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1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869680" y="1188720"/>
            <a:ext cx="4206300" cy="4206300"/>
          </a:xfrm>
          <a:prstGeom prst="ellipse">
            <a:avLst/>
          </a:prstGeom>
          <a:solidFill>
            <a:srgbClr val="1B2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966960" y="2743200"/>
            <a:ext cx="1828800" cy="1828800"/>
          </a:xfrm>
          <a:prstGeom prst="ellipse">
            <a:avLst/>
          </a:prstGeom>
          <a:solidFill>
            <a:srgbClr val="24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9006840" y="233172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&lt;/&gt;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10378440" y="2788920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00D9B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10881360" y="2514600"/>
            <a:ext cx="822960" cy="822960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10881360" y="251460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9B5"/>
                </a:solidFill>
                <a:latin typeface="Calibri"/>
                <a:ea typeface="Calibri"/>
                <a:cs typeface="Calibri"/>
                <a:sym typeface="Calibri"/>
              </a:rPr>
              <a:t>DESARROLLO HÍBRIDO WEB → NATIVO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594360" y="246888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Ionic + Capacitor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640080" y="3703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1E8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AFC1E8"/>
                </a:solidFill>
                <a:latin typeface="Cambria"/>
                <a:ea typeface="Cambria"/>
                <a:cs typeface="Cambria"/>
                <a:sym typeface="Cambria"/>
              </a:rPr>
              <a:t>Escríbelo una vez, ejecútalo en cualquier sitio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640080" y="57607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9B5"/>
                </a:solidFill>
                <a:latin typeface="Calibri"/>
                <a:ea typeface="Calibri"/>
                <a:cs typeface="Calibri"/>
                <a:sym typeface="Calibri"/>
              </a:rPr>
              <a:t>PMDM · UT1 · Actividad 1.1 · Grupo 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40080" y="60807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Idaira Sierra · Paula Briceño · Elena Martín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EC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9EC9"/>
                </a:solidFill>
                <a:latin typeface="Calibri"/>
                <a:ea typeface="Calibri"/>
                <a:cs typeface="Calibri"/>
                <a:sym typeface="Calibri"/>
              </a:rPr>
              <a:t>2.º DAM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0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80FF"/>
                </a:solidFill>
                <a:latin typeface="Calibri"/>
                <a:ea typeface="Calibri"/>
                <a:cs typeface="Calibri"/>
                <a:sym typeface="Calibri"/>
              </a:rPr>
              <a:t>CONCEPTO Y ENFOQUE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Un framework web + un runtime nativo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548640" y="129844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Nace para no programar la misma app dos veces (Kotlin/Java para Android y Swift para iOS): se escribe una vez con tecnologías web y funciona en Android, iOS, web y escritorio.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1874520"/>
            <a:ext cx="5394960" cy="1828800"/>
          </a:xfrm>
          <a:prstGeom prst="roundRect">
            <a:avLst>
              <a:gd fmla="val 5000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371600" y="2048256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Ionic — tipo de desarrollo: híbrido/multiplataforma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777240" y="260604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Framework de componentes de interfaz (botones, tarjetas, menús) hecho con HTML, CSS y JavaScript. Es una página web con aspecto de app.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3840480"/>
            <a:ext cx="5394960" cy="1965960"/>
          </a:xfrm>
          <a:prstGeom prst="roundRect">
            <a:avLst>
              <a:gd fmla="val 4651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00D9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13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2213E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1371600" y="4014216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Capacitor — el puente hacia el hardware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777240" y="457200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Runtime nativo que mete el proyecto web dentro de un proyecto Android/iOS y da a tu JavaScript la capacidad de "hablar" con el hardware del móvil.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263640" y="1874520"/>
            <a:ext cx="5394960" cy="3931920"/>
          </a:xfrm>
          <a:prstGeom prst="roundRect">
            <a:avLst>
              <a:gd fmla="val 2791" name="adj"/>
            </a:avLst>
          </a:prstGeom>
          <a:solidFill>
            <a:srgbClr val="12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6583680" y="20574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¿Cómo viaja una orden hasta la cámara?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583680" y="2560320"/>
            <a:ext cx="365760" cy="365760"/>
          </a:xfrm>
          <a:prstGeom prst="ellipse">
            <a:avLst/>
          </a:prstGeom>
          <a:solidFill>
            <a:srgbClr val="00D9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6583680" y="25603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13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2213E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7114032" y="2532888"/>
            <a:ext cx="4389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4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Tu HTML/CSS/JS se ejecuta dentro de un WebView (navegador oculto)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583680" y="3291840"/>
            <a:ext cx="365760" cy="365760"/>
          </a:xfrm>
          <a:prstGeom prst="ellipse">
            <a:avLst/>
          </a:prstGeom>
          <a:solidFill>
            <a:srgbClr val="00D9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6583680" y="3291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13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2213E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7114032" y="3264408"/>
            <a:ext cx="4389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4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Capacitor tiende un Bridge entre ese WebView y el sistema operativo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583680" y="4023360"/>
            <a:ext cx="365760" cy="365760"/>
          </a:xfrm>
          <a:prstGeom prst="ellipse">
            <a:avLst/>
          </a:prstGeom>
          <a:solidFill>
            <a:srgbClr val="00D9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6583680" y="40233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13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2213E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14032" y="3995928"/>
            <a:ext cx="4389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4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El JS pide "hacer una foto"; el bridge lo traduce y el SO abre la cámara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583680" y="4754880"/>
            <a:ext cx="365760" cy="365760"/>
          </a:xfrm>
          <a:prstGeom prst="ellipse">
            <a:avLst/>
          </a:prstGeom>
          <a:solidFill>
            <a:srgbClr val="00D9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6583680" y="47548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13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2213E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14032" y="4727448"/>
            <a:ext cx="4389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4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El resultado vuelve por el bridge hasta tu JavaScript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0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80FF"/>
                </a:solidFill>
                <a:latin typeface="Calibri"/>
                <a:ea typeface="Calibri"/>
                <a:cs typeface="Calibri"/>
                <a:sym typeface="Calibri"/>
              </a:rPr>
              <a:t>CAJA DE HERRAMIENTAS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Lenguajes, frameworks y herramientas de desarrollo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548640" y="169164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0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3880FF"/>
                </a:solidFill>
                <a:latin typeface="Cambria"/>
                <a:ea typeface="Cambria"/>
                <a:cs typeface="Cambria"/>
                <a:sym typeface="Cambria"/>
              </a:rPr>
              <a:t>Lenguajes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48640" y="2148840"/>
            <a:ext cx="365760" cy="365760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 txBox="1"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80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880FF"/>
                </a:solidFill>
                <a:latin typeface="Cambria"/>
                <a:ea typeface="Cambria"/>
                <a:cs typeface="Cambria"/>
                <a:sym typeface="Cambria"/>
              </a:rPr>
              <a:t>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1024128" y="2093976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HTML  </a:t>
            </a: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estructura de las pantallas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48640" y="3044952"/>
            <a:ext cx="365760" cy="365760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548640" y="3044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80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880FF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1024128" y="2990088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CSS  </a:t>
            </a: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estilo visual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48640" y="3941064"/>
            <a:ext cx="365760" cy="365760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548640" y="39410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80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880FF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1024128" y="388620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JavaScript  </a:t>
            </a: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lógica de la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48640" y="4837176"/>
            <a:ext cx="365760" cy="365760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 txBox="1"/>
          <p:nvPr/>
        </p:nvSpPr>
        <p:spPr>
          <a:xfrm>
            <a:off x="548640" y="4837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80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880FF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1024128" y="4782312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TypeScript  </a:t>
            </a: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JS con tipado; lo usa Angular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4434840" y="169164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Frameworks de UI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434840" y="2148840"/>
            <a:ext cx="365760" cy="365760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 txBox="1"/>
          <p:nvPr/>
        </p:nvSpPr>
        <p:spPr>
          <a:xfrm>
            <a:off x="4434840" y="2148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4910328" y="2093976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Angular  </a:t>
            </a: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de Google, con TypeScript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434840" y="3044952"/>
            <a:ext cx="365760" cy="365760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 txBox="1"/>
          <p:nvPr/>
        </p:nvSpPr>
        <p:spPr>
          <a:xfrm>
            <a:off x="4434840" y="3044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4910328" y="2990088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React  </a:t>
            </a: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de Meta, muy popular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434840" y="3941064"/>
            <a:ext cx="365760" cy="365760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4434840" y="39410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4910328" y="388620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Vue  </a:t>
            </a: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ligero y sencillo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434840" y="4837176"/>
            <a:ext cx="365760" cy="365760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4434840" y="4837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4910328" y="4782312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Ninguno  </a:t>
            </a: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Web Components + Stencil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8321040" y="169164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56C9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8E56C9"/>
                </a:solidFill>
                <a:latin typeface="Cambria"/>
                <a:ea typeface="Cambria"/>
                <a:cs typeface="Cambria"/>
                <a:sym typeface="Cambria"/>
              </a:rPr>
              <a:t>Herramientas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321040" y="2148840"/>
            <a:ext cx="365760" cy="365760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 txBox="1"/>
          <p:nvPr/>
        </p:nvSpPr>
        <p:spPr>
          <a:xfrm>
            <a:off x="8321040" y="2148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56C9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8E56C9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8796528" y="2093976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Node.js/npm  </a:t>
            </a: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ejecuta JS e instala plugins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321040" y="3044952"/>
            <a:ext cx="365760" cy="365760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8321040" y="3044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56C9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8E56C9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8796528" y="2990088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CLI  </a:t>
            </a: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ionic / npx cap 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321040" y="3941064"/>
            <a:ext cx="365760" cy="365760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8321040" y="39410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56C9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8E56C9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8796528" y="388620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Android Studio  </a:t>
            </a: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compila para Android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321040" y="4837176"/>
            <a:ext cx="365760" cy="365760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8321040" y="4837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56C9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8E56C9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8796528" y="4782312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Xcode  </a:t>
            </a: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compila para iOS (solo Mac)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13E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9B5"/>
                </a:solidFill>
                <a:latin typeface="Calibri"/>
                <a:ea typeface="Calibri"/>
                <a:cs typeface="Calibri"/>
                <a:sym typeface="Calibri"/>
              </a:rPr>
              <a:t>ALCANCE Y FLUJO DE TRABAJO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 una base de código a la tienda de apps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Plataformas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1B2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 txBox="1"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1051560" y="2112264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Android  </a:t>
            </a:r>
            <a:r>
              <a:rPr b="0" i="0" lang="en-US" sz="1100" u="none" cap="none" strike="noStrike">
                <a:solidFill>
                  <a:srgbClr val="AFC1E8"/>
                </a:solidFill>
                <a:latin typeface="Calibri"/>
                <a:ea typeface="Calibri"/>
                <a:cs typeface="Calibri"/>
                <a:sym typeface="Calibri"/>
              </a:rPr>
              <a:t>App nativa vía Play Store o instalación manual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48640" y="2898648"/>
            <a:ext cx="384048" cy="384048"/>
          </a:xfrm>
          <a:prstGeom prst="ellipse">
            <a:avLst/>
          </a:prstGeom>
          <a:solidFill>
            <a:srgbClr val="1B2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548640" y="28986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1051560" y="2862072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iOS  </a:t>
            </a:r>
            <a:r>
              <a:rPr b="0" i="0" lang="en-US" sz="1100" u="none" cap="none" strike="noStrike">
                <a:solidFill>
                  <a:srgbClr val="AFC1E8"/>
                </a:solidFill>
                <a:latin typeface="Calibri"/>
                <a:ea typeface="Calibri"/>
                <a:cs typeface="Calibri"/>
                <a:sym typeface="Calibri"/>
              </a:rPr>
              <a:t>App nativa vía App Store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8640" y="3648456"/>
            <a:ext cx="384048" cy="384048"/>
          </a:xfrm>
          <a:prstGeom prst="ellipse">
            <a:avLst/>
          </a:prstGeom>
          <a:solidFill>
            <a:srgbClr val="1B2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548640" y="36484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1051560" y="361188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 </a:t>
            </a:r>
            <a:r>
              <a:rPr b="0" i="0" lang="en-US" sz="1100" u="none" cap="none" strike="noStrike">
                <a:solidFill>
                  <a:srgbClr val="AFC1E8"/>
                </a:solidFill>
                <a:latin typeface="Calibri"/>
                <a:ea typeface="Calibri"/>
                <a:cs typeface="Calibri"/>
                <a:sym typeface="Calibri"/>
              </a:rPr>
              <a:t>Página web normal, sin instalar nada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48640" y="4398264"/>
            <a:ext cx="384048" cy="384048"/>
          </a:xfrm>
          <a:prstGeom prst="ellipse">
            <a:avLst/>
          </a:prstGeom>
          <a:solidFill>
            <a:srgbClr val="1B2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548640" y="4398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1051560" y="4361688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PWA  </a:t>
            </a:r>
            <a:r>
              <a:rPr b="0" i="0" lang="en-US" sz="1100" u="none" cap="none" strike="noStrike">
                <a:solidFill>
                  <a:srgbClr val="AFC1E8"/>
                </a:solidFill>
                <a:latin typeface="Calibri"/>
                <a:ea typeface="Calibri"/>
                <a:cs typeface="Calibri"/>
                <a:sym typeface="Calibri"/>
              </a:rPr>
              <a:t>Se "instala" con icono propio; offline parcial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5148072"/>
            <a:ext cx="384048" cy="384048"/>
          </a:xfrm>
          <a:prstGeom prst="ellipse">
            <a:avLst/>
          </a:prstGeom>
          <a:solidFill>
            <a:srgbClr val="1B2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548640" y="51480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1051560" y="5111496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Escritorio  </a:t>
            </a:r>
            <a:r>
              <a:rPr b="0" i="0" lang="en-US" sz="1100" u="none" cap="none" strike="noStrike">
                <a:solidFill>
                  <a:srgbClr val="AFC1E8"/>
                </a:solidFill>
                <a:latin typeface="Calibri"/>
                <a:ea typeface="Calibri"/>
                <a:cs typeface="Calibri"/>
                <a:sym typeface="Calibri"/>
              </a:rPr>
              <a:t>Windows/macOS/Linux con Capacitor + Electron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6263640" y="160020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De ionic serve a la tienda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263640" y="2148840"/>
            <a:ext cx="384048" cy="384048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6263640" y="2148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6812280" y="2112264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ionic serve  </a:t>
            </a:r>
            <a:r>
              <a:rPr b="0" i="0" lang="en-US" sz="1100" u="none" cap="none" strike="noStrike">
                <a:solidFill>
                  <a:srgbClr val="AFC1E8"/>
                </a:solidFill>
                <a:latin typeface="Calibri"/>
                <a:ea typeface="Calibri"/>
                <a:cs typeface="Calibri"/>
                <a:sym typeface="Calibri"/>
              </a:rPr>
              <a:t>prueba en el navegador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263640" y="2898648"/>
            <a:ext cx="384048" cy="384048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 txBox="1"/>
          <p:nvPr/>
        </p:nvSpPr>
        <p:spPr>
          <a:xfrm>
            <a:off x="6263640" y="28986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6812280" y="2862072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ionic build  </a:t>
            </a:r>
            <a:r>
              <a:rPr b="0" i="0" lang="en-US" sz="1100" u="none" cap="none" strike="noStrike">
                <a:solidFill>
                  <a:srgbClr val="AFC1E8"/>
                </a:solidFill>
                <a:latin typeface="Calibri"/>
                <a:ea typeface="Calibri"/>
                <a:cs typeface="Calibri"/>
                <a:sym typeface="Calibri"/>
              </a:rPr>
              <a:t>genera www/ optimizado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263640" y="3648456"/>
            <a:ext cx="384048" cy="384048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6263640" y="36484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6812280" y="361188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npx cap sync  </a:t>
            </a:r>
            <a:r>
              <a:rPr b="0" i="0" lang="en-US" sz="1100" u="none" cap="none" strike="noStrike">
                <a:solidFill>
                  <a:srgbClr val="AFC1E8"/>
                </a:solidFill>
                <a:latin typeface="Calibri"/>
                <a:ea typeface="Calibri"/>
                <a:cs typeface="Calibri"/>
                <a:sym typeface="Calibri"/>
              </a:rPr>
              <a:t>copia código y plugins a android/ e ios/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263640" y="4398264"/>
            <a:ext cx="384048" cy="384048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6263640" y="4398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6812280" y="436168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npx cap open  </a:t>
            </a:r>
            <a:r>
              <a:rPr b="0" i="0" lang="en-US" sz="1100" u="none" cap="none" strike="noStrike">
                <a:solidFill>
                  <a:srgbClr val="AFC1E8"/>
                </a:solidFill>
                <a:latin typeface="Calibri"/>
                <a:ea typeface="Calibri"/>
                <a:cs typeface="Calibri"/>
                <a:sym typeface="Calibri"/>
              </a:rPr>
              <a:t>abre Android Studio / Xcode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263640" y="5148072"/>
            <a:ext cx="384048" cy="384048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6263640" y="51480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6812280" y="5111496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nativo  </a:t>
            </a:r>
            <a:r>
              <a:rPr b="0" i="0" lang="en-US" sz="1100" u="none" cap="none" strike="noStrike">
                <a:solidFill>
                  <a:srgbClr val="AFC1E8"/>
                </a:solidFill>
                <a:latin typeface="Calibri"/>
                <a:ea typeface="Calibri"/>
                <a:cs typeface="Calibri"/>
                <a:sym typeface="Calibri"/>
              </a:rPr>
              <a:t>genera APK/AAB o IPA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263640" y="5897880"/>
            <a:ext cx="384048" cy="384048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6263640" y="58978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6812280" y="5861304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Distribución  </a:t>
            </a:r>
            <a:r>
              <a:rPr b="0" i="0" lang="en-US" sz="1100" u="none" cap="none" strike="noStrike">
                <a:solidFill>
                  <a:srgbClr val="AFC1E8"/>
                </a:solidFill>
                <a:latin typeface="Calibri"/>
                <a:ea typeface="Calibri"/>
                <a:cs typeface="Calibri"/>
                <a:sym typeface="Calibri"/>
              </a:rPr>
              <a:t>Play/App Store o APK manual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0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80FF"/>
                </a:solidFill>
                <a:latin typeface="Calibri"/>
                <a:ea typeface="Calibri"/>
                <a:cs typeface="Calibri"/>
                <a:sym typeface="Calibri"/>
              </a:rPr>
              <a:t>PUENTE HACIA EL HARDWARE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Cada función nativa es un plugin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48640" y="1783080"/>
            <a:ext cx="3520440" cy="1280160"/>
          </a:xfrm>
          <a:prstGeom prst="roundRect">
            <a:avLst>
              <a:gd fmla="val 7143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749808" y="1984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1325880" y="191109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Cámara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1325880" y="22402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ourier New"/>
                <a:ea typeface="Courier New"/>
                <a:cs typeface="Courier New"/>
                <a:sym typeface="Courier New"/>
              </a:rPr>
              <a:t>@capacitor/camera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297680" y="1783080"/>
            <a:ext cx="3520440" cy="1280160"/>
          </a:xfrm>
          <a:prstGeom prst="roundRect">
            <a:avLst>
              <a:gd fmla="val 7143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498848" y="1984248"/>
            <a:ext cx="457200" cy="457200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4498848" y="1984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5074920" y="191109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GPS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5074920" y="22402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ourier New"/>
                <a:ea typeface="Courier New"/>
                <a:cs typeface="Courier New"/>
                <a:sym typeface="Courier New"/>
              </a:rPr>
              <a:t>@capacitor/geolocation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8046720" y="1783080"/>
            <a:ext cx="3520440" cy="1280160"/>
          </a:xfrm>
          <a:prstGeom prst="roundRect">
            <a:avLst>
              <a:gd fmla="val 7143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247888" y="1984248"/>
            <a:ext cx="457200" cy="457200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8247888" y="1984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8823960" y="191109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Bluetooth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8823960" y="22402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ourier New"/>
                <a:ea typeface="Courier New"/>
                <a:cs typeface="Courier New"/>
                <a:sym typeface="Courier New"/>
              </a:rPr>
              <a:t>comunidad: bluetooth-le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48640" y="3291840"/>
            <a:ext cx="3520440" cy="1280160"/>
          </a:xfrm>
          <a:prstGeom prst="roundRect">
            <a:avLst>
              <a:gd fmla="val 7143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749808" y="3493008"/>
            <a:ext cx="457200" cy="457200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749808" y="3493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1325880" y="341985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Sensores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1325880" y="374904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ourier New"/>
                <a:ea typeface="Courier New"/>
                <a:cs typeface="Courier New"/>
                <a:sym typeface="Courier New"/>
              </a:rPr>
              <a:t>@capacitor/motion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297680" y="3291840"/>
            <a:ext cx="3520440" cy="1280160"/>
          </a:xfrm>
          <a:prstGeom prst="roundRect">
            <a:avLst>
              <a:gd fmla="val 7143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498848" y="3493008"/>
            <a:ext cx="457200" cy="457200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4498848" y="3493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5074920" y="341985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Notif. locales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5074920" y="374904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ourier New"/>
                <a:ea typeface="Courier New"/>
                <a:cs typeface="Courier New"/>
                <a:sym typeface="Courier New"/>
              </a:rPr>
              <a:t>@capacitor/local-notifications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8046720" y="3291840"/>
            <a:ext cx="3520440" cy="1280160"/>
          </a:xfrm>
          <a:prstGeom prst="roundRect">
            <a:avLst>
              <a:gd fmla="val 7143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8247888" y="3493008"/>
            <a:ext cx="457200" cy="457200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8247888" y="3493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8823960" y="341985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Notif. push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8823960" y="374904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ourier New"/>
                <a:ea typeface="Courier New"/>
                <a:cs typeface="Courier New"/>
                <a:sym typeface="Courier New"/>
              </a:rPr>
              <a:t>push-notifications + FCM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48640" y="5074920"/>
            <a:ext cx="10881360" cy="914400"/>
          </a:xfrm>
          <a:prstGeom prst="roundRect">
            <a:avLst>
              <a:gd fmla="val 10000" name="adj"/>
            </a:avLst>
          </a:prstGeom>
          <a:solidFill>
            <a:srgbClr val="12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 txBox="1"/>
          <p:nvPr/>
        </p:nvSpPr>
        <p:spPr>
          <a:xfrm>
            <a:off x="822960" y="5230368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D9B5"/>
                </a:solidFill>
                <a:latin typeface="Calibri"/>
                <a:ea typeface="Calibri"/>
                <a:cs typeface="Calibri"/>
                <a:sym typeface="Calibri"/>
              </a:rPr>
              <a:t>Importante:  </a:t>
            </a: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instalar el plugin con npm no basta. Cada función sensible necesita un permiso nativo en AndroidManifest.xml o Info.plist, y el usuario debe aceptarlo.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0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80FF"/>
                </a:solidFill>
                <a:latin typeface="Calibri"/>
                <a:ea typeface="Calibri"/>
                <a:cs typeface="Calibri"/>
                <a:sym typeface="Calibri"/>
              </a:rPr>
              <a:t>RENDIMIENTO Y EXPERIENCIA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¿Para qué proyectos brilla Ionic?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48640" y="1737360"/>
            <a:ext cx="5212080" cy="4206240"/>
          </a:xfrm>
          <a:prstGeom prst="roundRect">
            <a:avLst>
              <a:gd fmla="val 2609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0D9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13E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2213E"/>
                </a:solidFill>
                <a:latin typeface="Cambria"/>
                <a:ea typeface="Cambria"/>
                <a:cs typeface="Cambria"/>
                <a:sym typeface="Cambria"/>
              </a:rPr>
              <a:t>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1463040" y="20116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Ideal para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822960" y="2697480"/>
            <a:ext cx="46634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Apps empresariales y de gestión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6233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Catálogos y herramientas de campo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6233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MVP y proyectos que buscan reducir costes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6233F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Buen rendimiento con WebView optimizada + Bridge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263640" y="1737360"/>
            <a:ext cx="5394960" cy="4206240"/>
          </a:xfrm>
          <a:prstGeom prst="roundRect">
            <a:avLst>
              <a:gd fmla="val 2609" name="adj"/>
            </a:avLst>
          </a:prstGeom>
          <a:solidFill>
            <a:srgbClr val="12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E2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6537960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7178040" y="201168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Menos adecuado para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6537960" y="2697480"/>
            <a:ext cx="48463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CE4F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Videojuegos avanzados en 3D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DCE4F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Procesamiento intensivo de vídeo/audio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DCE4F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Animaciones extremadamente complejas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DCE4F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Menor rendimiento gráfico frente a nativo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13E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9B5"/>
                </a:solidFill>
                <a:latin typeface="Calibri"/>
                <a:ea typeface="Calibri"/>
                <a:cs typeface="Calibri"/>
                <a:sym typeface="Calibri"/>
              </a:rPr>
              <a:t>BALANCE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Reutilización de código, ventajas e inconvenientes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548640" y="16916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Ventajas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548640" y="2148840"/>
            <a:ext cx="52120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Código base único: un repo para web y móvil (npx cap sync)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Capacitor.isNativePlatform() adapta comportamiento sin duplicar código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Gran biblioteca de componentes de UI ya adaptados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Acceso nativo moderno vía arquitectura de plugins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Flexibilidad: Angular, React o Vue a elegir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2A65A"/>
                </a:solidFill>
                <a:latin typeface="Cambria"/>
                <a:ea typeface="Cambria"/>
                <a:cs typeface="Cambria"/>
                <a:sym typeface="Cambria"/>
              </a:rPr>
              <a:t>Inconvenientes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6263640" y="2148840"/>
            <a:ext cx="53949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Rendimiento algo menor que nativo o React Native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No apto para gráficos pesados (juegos, vídeo 3D)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DCE4F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Dependencia de plugins de terceros que pueden quedar sin mantenimiento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0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80FF"/>
                </a:solidFill>
                <a:latin typeface="Calibri"/>
                <a:ea typeface="Calibri"/>
                <a:cs typeface="Calibri"/>
                <a:sym typeface="Calibri"/>
              </a:rPr>
              <a:t>CASOS REALES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Apps hechas con Ionic que ya conoces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48640" y="1600200"/>
            <a:ext cx="5394960" cy="3246120"/>
          </a:xfrm>
          <a:prstGeom prst="roundRect">
            <a:avLst>
              <a:gd fmla="val 3380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777240" y="1801368"/>
            <a:ext cx="457200" cy="457200"/>
          </a:xfrm>
          <a:prstGeom prst="ellipse">
            <a:avLst/>
          </a:prstGeom>
          <a:solidFill>
            <a:srgbClr val="38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 txBox="1"/>
          <p:nvPr/>
        </p:nvSpPr>
        <p:spPr>
          <a:xfrm>
            <a:off x="777240" y="18013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1371600" y="18288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Sworkit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777240" y="2267712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App de fitness con más de 5 millones de descargas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777240" y="26517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0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3880FF"/>
                </a:solidFill>
                <a:latin typeface="Calibri"/>
                <a:ea typeface="Calibri"/>
                <a:cs typeface="Calibri"/>
                <a:sym typeface="Calibri"/>
              </a:rPr>
              <a:t>10 semanas</a:t>
            </a: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  de desarrollo (mitad de tiempo)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777240" y="30632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0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3880FF"/>
                </a:solidFill>
                <a:latin typeface="Calibri"/>
                <a:ea typeface="Calibri"/>
                <a:cs typeface="Calibri"/>
                <a:sym typeface="Calibri"/>
              </a:rPr>
              <a:t>+$200.000</a:t>
            </a: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  ahorrados al año en ingeniería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777240" y="3520440"/>
            <a:ext cx="4937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Código único para iOS, Android y web, con iteración y corrección de errores muy rápidas.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263640" y="1600200"/>
            <a:ext cx="5394960" cy="3246120"/>
          </a:xfrm>
          <a:prstGeom prst="roundRect">
            <a:avLst>
              <a:gd fmla="val 3380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492240" y="1801368"/>
            <a:ext cx="457200" cy="457200"/>
          </a:xfrm>
          <a:prstGeom prst="ellipse">
            <a:avLst/>
          </a:prstGeom>
          <a:solidFill>
            <a:srgbClr val="00D9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 txBox="1"/>
          <p:nvPr/>
        </p:nvSpPr>
        <p:spPr>
          <a:xfrm>
            <a:off x="6492240" y="18013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13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2213E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7086600" y="182880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MarketWatch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6492240" y="226771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Plataforma de información financiera muy visitada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6492240" y="2697480"/>
            <a:ext cx="49834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Datos en tiempo real sin recargar la página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6233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Compatibilidad universal en cualquier SO o dispositivo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6233F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Su código web facilita el SEO: Google indexa sus artículos al instante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548640" y="5029200"/>
            <a:ext cx="11109960" cy="960120"/>
          </a:xfrm>
          <a:prstGeom prst="roundRect">
            <a:avLst>
              <a:gd fmla="val 9524" name="adj"/>
            </a:avLst>
          </a:prstGeom>
          <a:solidFill>
            <a:srgbClr val="12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 txBox="1"/>
          <p:nvPr/>
        </p:nvSpPr>
        <p:spPr>
          <a:xfrm>
            <a:off x="777240" y="5138928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D9B5"/>
                </a:solidFill>
                <a:latin typeface="Calibri"/>
                <a:ea typeface="Calibri"/>
                <a:cs typeface="Calibri"/>
                <a:sym typeface="Calibri"/>
              </a:rPr>
              <a:t>Muestra de código — estructura típica del proyecto (ejemplo real: Sworkit) 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777240" y="546811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4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CE4F7"/>
                </a:solidFill>
                <a:latin typeface="Courier New"/>
                <a:ea typeface="Courier New"/>
                <a:cs typeface="Courier New"/>
                <a:sym typeface="Courier New"/>
              </a:rPr>
              <a:t>src/  android/  ios/  www/     capacitor.config.ts  →  appId: 'com.sworkit.app', webDir: 'www'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0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80FF"/>
                </a:solidFill>
                <a:latin typeface="Calibri"/>
                <a:ea typeface="Calibri"/>
                <a:cs typeface="Calibri"/>
                <a:sym typeface="Calibri"/>
              </a:rPr>
              <a:t>RECOMENDACIÓN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¿Para qué proyecto lo elegiríamos?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48640" y="1737360"/>
            <a:ext cx="5212080" cy="4206240"/>
          </a:xfrm>
          <a:prstGeom prst="roundRect">
            <a:avLst>
              <a:gd fmla="val 2609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0D9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13E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2213E"/>
                </a:solidFill>
                <a:latin typeface="Cambria"/>
                <a:ea typeface="Cambria"/>
                <a:cs typeface="Cambria"/>
                <a:sym typeface="Cambria"/>
              </a:rPr>
              <a:t>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822960" y="256032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Gestión empresarial / e-commerce sencillo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822960" y="3246120"/>
            <a:ext cx="4663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Reutiliza código web existente y acelera el lanzamiento en Android e 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Acceso nativo a cámara, almacenamiento o geolocalización vía Capacitor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La UI se adapta sola a las guías de iOS y Android: ahorra tiempo de diseño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6263640" y="1737360"/>
            <a:ext cx="5394960" cy="4206240"/>
          </a:xfrm>
          <a:prstGeom prst="roundRect">
            <a:avLst>
              <a:gd fmla="val 2609" name="adj"/>
            </a:avLst>
          </a:prstGeom>
          <a:solidFill>
            <a:srgbClr val="12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E2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6537960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6537960" y="256032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Videojuego 3D o edición de vídeo en tiempo real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6537960" y="3246120"/>
            <a:ext cx="49377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CE4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El WebView traduce constantemente los gráficos: caen los FPS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DCE4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El recolector de memoria de JS provoca micro-congelamientos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DCE4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Un único hilo no reparte IA, físicas y gráficos entre núcleos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DCE4F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La RAM del navegador interno está muy limitada (a veces &lt;500MB)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13E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9052560" y="-731520"/>
            <a:ext cx="4206240" cy="4206240"/>
          </a:xfrm>
          <a:prstGeom prst="ellipse">
            <a:avLst/>
          </a:prstGeom>
          <a:solidFill>
            <a:srgbClr val="1B2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10149840" y="822960"/>
            <a:ext cx="1828800" cy="1828800"/>
          </a:xfrm>
          <a:prstGeom prst="ellipse">
            <a:avLst/>
          </a:prstGeom>
          <a:solidFill>
            <a:srgbClr val="24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 txBox="1"/>
          <p:nvPr/>
        </p:nvSpPr>
        <p:spPr>
          <a:xfrm>
            <a:off x="640080" y="18745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9B5"/>
                </a:solidFill>
                <a:latin typeface="Calibri"/>
                <a:ea typeface="Calibri"/>
                <a:cs typeface="Calibri"/>
                <a:sym typeface="Calibri"/>
              </a:rPr>
              <a:t>GRACIAS POR VUESTRA ATENCIÓN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594360" y="2240280"/>
            <a:ext cx="8686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Ionic + Capacitor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640080" y="333756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2000"/>
              <a:buFont typeface="Cambria"/>
              <a:buNone/>
            </a:pPr>
            <a:r>
              <a:rPr b="1" i="1" lang="en-US" sz="2000" u="none" cap="none" strike="noStrike">
                <a:solidFill>
                  <a:srgbClr val="00D9B5"/>
                </a:solidFill>
                <a:latin typeface="Cambria"/>
                <a:ea typeface="Cambria"/>
                <a:cs typeface="Cambria"/>
                <a:sym typeface="Cambria"/>
              </a:rPr>
              <a:t>“Write once, run anywhere”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640080" y="3977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4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DCE4F7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B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9B5"/>
                </a:solidFill>
                <a:latin typeface="Calibri"/>
                <a:ea typeface="Calibri"/>
                <a:cs typeface="Calibri"/>
                <a:sym typeface="Calibri"/>
              </a:rPr>
              <a:t>PMDM · UT1 · Actividad 1.1 · Grupo 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640080" y="5029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Idaira Sierra · Paula Briceño · Elena Martín — 2.º DAM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2"/>
          <p:cNvCxnSpPr/>
          <p:nvPr/>
        </p:nvCxnSpPr>
        <p:spPr>
          <a:xfrm>
            <a:off x="640080" y="5623560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2440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2"/>
          <p:cNvSpPr txBox="1"/>
          <p:nvPr/>
        </p:nvSpPr>
        <p:spPr>
          <a:xfrm>
            <a:off x="640080" y="57607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FUENTES CONSULTADAS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640080" y="6053328"/>
            <a:ext cx="5394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CA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CA3"/>
                </a:solidFill>
                <a:latin typeface="Calibri"/>
                <a:ea typeface="Calibri"/>
                <a:cs typeface="Calibri"/>
                <a:sym typeface="Calibri"/>
              </a:rPr>
              <a:t>Ionic Framework Documentation — ionicframework.com/docs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CA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CA3"/>
                </a:solidFill>
                <a:latin typeface="Calibri"/>
                <a:ea typeface="Calibri"/>
                <a:cs typeface="Calibri"/>
                <a:sym typeface="Calibri"/>
              </a:rPr>
              <a:t>Capacitor — Official Plugins — capacitorjs.com/docs/apis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CA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CA3"/>
                </a:solidFill>
                <a:latin typeface="Calibri"/>
                <a:ea typeface="Calibri"/>
                <a:cs typeface="Calibri"/>
                <a:sym typeface="Calibri"/>
              </a:rPr>
              <a:t>Built with Ionic — ionic.io/blog/built-with-ionic-sworkit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CA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CA3"/>
                </a:solidFill>
                <a:latin typeface="Calibri"/>
                <a:ea typeface="Calibri"/>
                <a:cs typeface="Calibri"/>
                <a:sym typeface="Calibri"/>
              </a:rPr>
              <a:t>Sworkit App Case Study — ionic.io/resources/case-studies/sworkit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CA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CA3"/>
                </a:solidFill>
                <a:latin typeface="Calibri"/>
                <a:ea typeface="Calibri"/>
                <a:cs typeface="Calibri"/>
                <a:sym typeface="Calibri"/>
              </a:rPr>
              <a:t>Customer Spotlight — ionicframework.com/case-studies/Sworkit.pdf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6217920" y="6053328"/>
            <a:ext cx="5394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CA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CA3"/>
                </a:solidFill>
                <a:latin typeface="Calibri"/>
                <a:ea typeface="Calibri"/>
                <a:cs typeface="Calibri"/>
                <a:sym typeface="Calibri"/>
              </a:rPr>
              <a:t>MarketWatch — luisandrade.com/exclusivas/marketwatch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CA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CA3"/>
                </a:solidFill>
                <a:latin typeface="Calibri"/>
                <a:ea typeface="Calibri"/>
                <a:cs typeface="Calibri"/>
                <a:sym typeface="Calibri"/>
              </a:rPr>
              <a:t>MarketWatch (Wikipedia) — en.wikipedia.org/wiki/MarketWatch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CA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CA3"/>
                </a:solidFill>
                <a:latin typeface="Calibri"/>
                <a:ea typeface="Calibri"/>
                <a:cs typeface="Calibri"/>
                <a:sym typeface="Calibri"/>
              </a:rPr>
              <a:t>WebGL limitations — forum.playcanvas.com/t/webgl-limitations/22994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CA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CA3"/>
                </a:solidFill>
                <a:latin typeface="Calibri"/>
                <a:ea typeface="Calibri"/>
                <a:cs typeface="Calibri"/>
                <a:sym typeface="Calibri"/>
              </a:rPr>
              <a:t>Mejores lenguajes de programación — profile.es/blog/lenguajes-programacion-videojuegos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